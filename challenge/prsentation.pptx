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4" r:id="rId6"/>
    <p:sldId id="263" r:id="rId7"/>
    <p:sldId id="260" r:id="rId8"/>
    <p:sldId id="267" r:id="rId9"/>
    <p:sldId id="271" r:id="rId10"/>
    <p:sldId id="268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7DA38-E5D6-4EC2-95A8-60998A019AD6}" v="1511" dt="2026-05-10T09:25:39.083"/>
    <p1510:client id="{9656FB6A-CEC3-7ED9-1D33-09B75D49316B}" v="140" dt="2026-05-10T09:19:25.360"/>
    <p1510:client id="{B6241D60-7E22-092E-9C28-1A60F77CDC11}" v="1207" dt="2026-05-10T09:24:43.573"/>
    <p1510:client id="{C32BEE10-F8A6-04DA-5376-5AAFD8B5910B}" v="22" dt="2026-05-10T08:49:15.331"/>
    <p1510:client id="{CD044E9D-B60E-B720-00FE-F5AECA2307D3}" v="78" dt="2026-05-10T08:29:38.064"/>
    <p1510:client id="{D994585F-4823-FDFE-267F-F5C1018430D3}" v="204" dt="2026-05-10T09:20:14.596"/>
    <p1510:client id="{EB3B8311-C03E-FEEC-5DF0-23C8B5F6B619}" v="46" dt="2026-05-10T08:23:32.338"/>
    <p1510:client id="{FA883B62-D60A-19EB-04E2-9FD7E0A9D1D0}" v="56" dt="2026-05-10T08:16:20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FA97E-B39F-4B49-AC6F-D474FF737BA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B0F4A-5D6F-48C0-ABEA-9F3F2531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3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CB0F4A-5D6F-48C0-ABEA-9F3F253119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9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8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5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6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78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4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5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4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375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42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94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74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94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BB7C18-983B-44DB-A5D0-C2C1493362A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851E-2FAC-4371-A16C-7C11D36ED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06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5ED79-E1BC-E886-FA16-416C8334C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306" y="982980"/>
            <a:ext cx="4929973" cy="3057277"/>
          </a:xfrm>
        </p:spPr>
        <p:txBody>
          <a:bodyPr>
            <a:normAutofit/>
          </a:bodyPr>
          <a:lstStyle/>
          <a:p>
            <a:r>
              <a:rPr lang="en-US" sz="6300" b="1"/>
              <a:t>Cat Qubit Stabilization</a:t>
            </a:r>
            <a:endParaRPr lang="en-US" sz="6300">
              <a:solidFill>
                <a:srgbClr val="EBEBEB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391182-340A-078F-3BE9-C04EC6AD3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6" r="1" b="8098"/>
          <a:stretch>
            <a:fillRect/>
          </a:stretch>
        </p:blipFill>
        <p:spPr>
          <a:xfrm>
            <a:off x="-800265" y="0"/>
            <a:ext cx="7812156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3CF1B74-8608-4041-2371-3AACCC0B0FFE}"/>
              </a:ext>
            </a:extLst>
          </p:cNvPr>
          <p:cNvSpPr txBox="1"/>
          <p:nvPr/>
        </p:nvSpPr>
        <p:spPr>
          <a:xfrm>
            <a:off x="7111283" y="3980622"/>
            <a:ext cx="4045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err="1"/>
              <a:t>WhisQu</a:t>
            </a:r>
            <a:r>
              <a:rPr lang="es-ES"/>
              <a:t> – Alice &amp; Bob Challenge</a:t>
            </a:r>
          </a:p>
          <a:p>
            <a:r>
              <a:rPr lang="en-US"/>
              <a:t>ETH Quantum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274713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04FB-D6C5-3543-89E8-5F00FEDC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764825"/>
          </a:xfrm>
        </p:spPr>
        <p:txBody>
          <a:bodyPr/>
          <a:lstStyle/>
          <a:p>
            <a:pPr algn="ctr"/>
            <a:r>
              <a:rPr lang="es-ES" err="1"/>
              <a:t>Challenge</a:t>
            </a:r>
            <a:r>
              <a:rPr lang="es-ES"/>
              <a:t> </a:t>
            </a:r>
            <a:r>
              <a:rPr lang="es-ES" err="1"/>
              <a:t>Introduction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F49DF-F40D-59A9-85DF-8FC44958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404" y="1505778"/>
            <a:ext cx="10436087" cy="4939748"/>
          </a:xfrm>
        </p:spPr>
        <p:txBody>
          <a:bodyPr>
            <a:normAutofit/>
          </a:bodyPr>
          <a:lstStyle/>
          <a:p>
            <a:r>
              <a:rPr lang="en-US"/>
              <a:t>As quantum processors grow in complexity, maintaining stable and high-fidelity qubit operations becomes increasingly difficult. Small variations in control parameters, environmental noise, and hardware drift can significantly degrade performance over time.</a:t>
            </a:r>
          </a:p>
          <a:p>
            <a:r>
              <a:rPr lang="en-US"/>
              <a:t>In this challenge, we explored how optimization techniques can be used to:</a:t>
            </a:r>
          </a:p>
          <a:p>
            <a:pPr lvl="1"/>
            <a:r>
              <a:rPr lang="en-US"/>
              <a:t>Calibrate qubit control pulses efficiently </a:t>
            </a:r>
          </a:p>
          <a:p>
            <a:pPr lvl="1"/>
            <a:r>
              <a:rPr lang="en-US"/>
              <a:t>Track and compensate for hardware drift in real time </a:t>
            </a:r>
          </a:p>
          <a:p>
            <a:pPr lvl="1"/>
            <a:r>
              <a:rPr lang="en-US"/>
              <a:t>Improve the stability of quantum operations </a:t>
            </a:r>
          </a:p>
          <a:p>
            <a:pPr lvl="1"/>
            <a:r>
              <a:rPr lang="en-US"/>
              <a:t>Analyze and preserve logical information in cat qubits under photon loss </a:t>
            </a:r>
          </a:p>
          <a:p>
            <a:r>
              <a:rPr lang="en-US" b="1"/>
              <a:t>Our objective was to develop robust calibration strategies capable of adapting dynamically to changing quantum hardware conditions while maximizing qubit performance and coherence.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0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89FF9-0545-618D-AF4F-AA63904E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814521"/>
          </a:xfrm>
        </p:spPr>
        <p:txBody>
          <a:bodyPr/>
          <a:lstStyle/>
          <a:p>
            <a:pPr algn="ctr"/>
            <a:r>
              <a:rPr lang="es-ES" err="1"/>
              <a:t>Our</a:t>
            </a:r>
            <a:r>
              <a:rPr lang="es-ES"/>
              <a:t> </a:t>
            </a:r>
            <a:r>
              <a:rPr lang="es-ES" err="1"/>
              <a:t>Approach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A13107-1023-04D2-E19C-FEF9478D18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3190" y="1891261"/>
                <a:ext cx="9065879" cy="486686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s-ES" err="1"/>
                  <a:t>We</a:t>
                </a:r>
                <a:r>
                  <a:rPr lang="es-ES"/>
                  <a:t> </a:t>
                </a:r>
                <a:r>
                  <a:rPr lang="es-ES" err="1"/>
                  <a:t>initially</a:t>
                </a:r>
                <a:r>
                  <a:rPr lang="es-ES"/>
                  <a:t> </a:t>
                </a:r>
                <a:r>
                  <a:rPr lang="es-ES" err="1"/>
                  <a:t>tried</a:t>
                </a:r>
                <a:r>
                  <a:rPr lang="es-ES"/>
                  <a:t> </a:t>
                </a:r>
                <a:r>
                  <a:rPr lang="es-ES" err="1"/>
                  <a:t>to</a:t>
                </a:r>
                <a:r>
                  <a:rPr lang="es-ES"/>
                  <a:t> </a:t>
                </a:r>
                <a:r>
                  <a:rPr lang="es-ES" err="1"/>
                  <a:t>work</a:t>
                </a:r>
                <a:r>
                  <a:rPr lang="es-ES"/>
                  <a:t> </a:t>
                </a:r>
                <a:r>
                  <a:rPr lang="es-ES" err="1"/>
                  <a:t>with</a:t>
                </a:r>
                <a:r>
                  <a:rPr lang="es-ES"/>
                  <a:t> the </a:t>
                </a:r>
                <a:r>
                  <a:rPr lang="es-ES" err="1"/>
                  <a:t>complex</a:t>
                </a:r>
                <a:r>
                  <a:rPr lang="es-ES"/>
                  <a:t> </a:t>
                </a:r>
                <a:r>
                  <a:rPr lang="es-ES" err="1"/>
                  <a:t>knobs</a:t>
                </a:r>
                <a:r>
                  <a:rPr lang="es-ES"/>
                  <a:t> in the </a:t>
                </a:r>
                <a:r>
                  <a:rPr lang="es-ES" err="1"/>
                  <a:t>cartesian</a:t>
                </a:r>
                <a:r>
                  <a:rPr lang="es-ES"/>
                  <a:t> </a:t>
                </a:r>
                <a:r>
                  <a:rPr lang="es-ES" err="1"/>
                  <a:t>form</a:t>
                </a:r>
                <a:r>
                  <a:rPr lang="es-ES"/>
                  <a:t> (</a:t>
                </a:r>
                <a:r>
                  <a:rPr lang="es-ES" err="1"/>
                  <a:t>a+ib</a:t>
                </a:r>
                <a:r>
                  <a:rPr lang="es-ES"/>
                  <a:t>), </a:t>
                </a:r>
                <a:r>
                  <a:rPr lang="es-ES" err="1"/>
                  <a:t>but</a:t>
                </a:r>
                <a:r>
                  <a:rPr lang="es-ES"/>
                  <a:t> </a:t>
                </a:r>
                <a:r>
                  <a:rPr lang="es-ES" err="1"/>
                  <a:t>then</a:t>
                </a:r>
                <a:r>
                  <a:rPr lang="es-ES"/>
                  <a:t> </a:t>
                </a:r>
                <a:r>
                  <a:rPr lang="es-ES" err="1"/>
                  <a:t>realized</a:t>
                </a:r>
                <a:r>
                  <a:rPr lang="es-ES"/>
                  <a:t> </a:t>
                </a:r>
                <a:r>
                  <a:rPr lang="es-ES" err="1"/>
                  <a:t>that</a:t>
                </a:r>
                <a:r>
                  <a:rPr lang="es-ES"/>
                  <a:t> a polar-</a:t>
                </a:r>
                <a:r>
                  <a:rPr lang="es-ES" err="1"/>
                  <a:t>form</a:t>
                </a:r>
                <a:r>
                  <a:rPr lang="es-ES"/>
                  <a:t> </a:t>
                </a:r>
                <a:r>
                  <a:rPr lang="es-ES" err="1"/>
                  <a:t>version</a:t>
                </a:r>
                <a:r>
                  <a:rPr lang="es-ES"/>
                  <a:t> (mod, </a:t>
                </a:r>
                <a:r>
                  <a:rPr lang="es-ES" err="1"/>
                  <a:t>arg</a:t>
                </a:r>
                <a:r>
                  <a:rPr lang="es-ES"/>
                  <a:t>) </a:t>
                </a:r>
                <a:r>
                  <a:rPr lang="es-ES" err="1"/>
                  <a:t>could</a:t>
                </a:r>
                <a:r>
                  <a:rPr lang="es-ES"/>
                  <a:t> </a:t>
                </a:r>
                <a:r>
                  <a:rPr lang="es-ES" err="1"/>
                  <a:t>give</a:t>
                </a:r>
                <a:r>
                  <a:rPr lang="es-ES"/>
                  <a:t> </a:t>
                </a:r>
                <a:r>
                  <a:rPr lang="es-ES" err="1"/>
                  <a:t>us</a:t>
                </a:r>
                <a:r>
                  <a:rPr lang="es-ES"/>
                  <a:t> </a:t>
                </a:r>
                <a:r>
                  <a:rPr lang="es-ES" err="1"/>
                  <a:t>better</a:t>
                </a:r>
                <a:r>
                  <a:rPr lang="es-ES"/>
                  <a:t> </a:t>
                </a:r>
                <a:r>
                  <a:rPr lang="es-ES" err="1"/>
                  <a:t>results</a:t>
                </a:r>
                <a:r>
                  <a:rPr lang="es-ES"/>
                  <a:t>.</a:t>
                </a:r>
              </a:p>
              <a:p>
                <a:endParaRPr lang="es-ES"/>
              </a:p>
              <a:p>
                <a:r>
                  <a:rPr lang="es-ES" dirty="0">
                    <a:ea typeface="+mj-lt"/>
                    <a:cs typeface="+mj-lt"/>
                  </a:rPr>
                  <a:t>Proxy: </a:t>
                </a:r>
                <a:r>
                  <a:rPr lang="es-ES" err="1">
                    <a:ea typeface="+mj-lt"/>
                    <a:cs typeface="+mj-lt"/>
                  </a:rPr>
                  <a:t>Instead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:r>
                  <a:rPr lang="es-ES" err="1">
                    <a:ea typeface="+mj-lt"/>
                    <a:cs typeface="+mj-lt"/>
                  </a:rPr>
                  <a:t>of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:r>
                  <a:rPr lang="es-ES" err="1">
                    <a:ea typeface="+mj-lt"/>
                    <a:cs typeface="+mj-lt"/>
                  </a:rPr>
                  <a:t>fitting</a:t>
                </a:r>
                <a:r>
                  <a:rPr lang="es-ES" dirty="0">
                    <a:ea typeface="+mj-lt"/>
                    <a:cs typeface="+mj-lt"/>
                  </a:rPr>
                  <a:t> a full curve, </a:t>
                </a:r>
                <a:r>
                  <a:rPr lang="es-ES" err="1">
                    <a:ea typeface="+mj-lt"/>
                    <a:cs typeface="+mj-lt"/>
                  </a:rPr>
                  <a:t>we</a:t>
                </a:r>
                <a:r>
                  <a:rPr lang="es-ES" dirty="0">
                    <a:ea typeface="+mj-lt"/>
                    <a:cs typeface="+mj-lt"/>
                  </a:rPr>
                  <a:t> </a:t>
                </a:r>
                <a:r>
                  <a:rPr lang="es-ES" err="1">
                    <a:ea typeface="+mj-lt"/>
                    <a:cs typeface="+mj-lt"/>
                  </a:rPr>
                  <a:t>perform</a:t>
                </a:r>
                <a:r>
                  <a:rPr lang="es-ES" dirty="0">
                    <a:ea typeface="+mj-lt"/>
                    <a:cs typeface="+mj-lt"/>
                  </a:rPr>
                  <a:t> a </a:t>
                </a:r>
                <a:r>
                  <a:rPr lang="es-ES" err="1">
                    <a:ea typeface="+mj-lt"/>
                    <a:cs typeface="+mj-lt"/>
                  </a:rPr>
                  <a:t>one</a:t>
                </a:r>
                <a:r>
                  <a:rPr lang="es-ES" dirty="0">
                    <a:ea typeface="+mj-lt"/>
                    <a:cs typeface="+mj-lt"/>
                  </a:rPr>
                  <a:t>-time offline </a:t>
                </a:r>
                <a:r>
                  <a:rPr lang="es-ES" err="1">
                    <a:ea typeface="+mj-lt"/>
                    <a:cs typeface="+mj-lt"/>
                  </a:rPr>
                  <a:t>calibration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:r>
                  <a:rPr lang="es-ES" err="1">
                    <a:ea typeface="+mj-lt"/>
                    <a:cs typeface="+mj-lt"/>
                  </a:rPr>
                  <a:t>to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:r>
                  <a:rPr lang="es-ES" err="1">
                    <a:ea typeface="+mj-lt"/>
                    <a:cs typeface="+mj-lt"/>
                  </a:rPr>
                  <a:t>find</a:t>
                </a:r>
                <a:r>
                  <a:rPr lang="es-ES" dirty="0">
                    <a:ea typeface="+mj-lt"/>
                    <a:cs typeface="+mj-lt"/>
                  </a:rPr>
                  <a:t> the </a:t>
                </a:r>
                <a:r>
                  <a:rPr lang="es-ES" err="1">
                    <a:ea typeface="+mj-lt"/>
                    <a:cs typeface="+mj-lt"/>
                  </a:rPr>
                  <a:t>baseline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:r>
                  <a:rPr lang="es-ES" err="1">
                    <a:ea typeface="+mj-lt"/>
                    <a:cs typeface="+mj-lt"/>
                  </a:rPr>
                  <a:t>lifetime</a:t>
                </a:r>
                <a:r>
                  <a:rPr lang="es-ES" dirty="0">
                    <a:ea typeface="+mj-lt"/>
                    <a:cs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+mj-lt"/>
                        <a:cs typeface="+mj-lt"/>
                      </a:rPr>
                      <m:t>𝜏</m:t>
                    </m:r>
                  </m:oMath>
                </a14:m>
                <a:r>
                  <a:rPr lang="es-ES" dirty="0"/>
                  <a:t>. During the </a:t>
                </a:r>
                <a:r>
                  <a:rPr lang="es-ES" err="1"/>
                  <a:t>optimization</a:t>
                </a:r>
                <a:r>
                  <a:rPr lang="es-ES" dirty="0"/>
                  <a:t> </a:t>
                </a:r>
                <a:r>
                  <a:rPr lang="es-ES" err="1"/>
                  <a:t>loop</a:t>
                </a:r>
                <a:r>
                  <a:rPr lang="es-ES" dirty="0"/>
                  <a:t>, </a:t>
                </a:r>
                <a:r>
                  <a:rPr lang="es-ES" err="1"/>
                  <a:t>we</a:t>
                </a:r>
                <a:r>
                  <a:rPr lang="es-ES" dirty="0"/>
                  <a:t> </a:t>
                </a:r>
                <a:r>
                  <a:rPr lang="es-ES" err="1"/>
                  <a:t>measure</a:t>
                </a:r>
                <a:r>
                  <a:rPr lang="es-ES" dirty="0"/>
                  <a:t> the </a:t>
                </a:r>
                <a:r>
                  <a:rPr lang="es-ES" err="1"/>
                  <a:t>qubit</a:t>
                </a:r>
                <a:r>
                  <a:rPr lang="es-ES" dirty="0"/>
                  <a:t>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0.5⋅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s-ES" dirty="0"/>
                  <a:t>.</a:t>
                </a:r>
                <a:r>
                  <a:rPr lang="es-ES"/>
                  <a:t> </a:t>
                </a:r>
              </a:p>
              <a:p>
                <a:pPr lvl="1"/>
                <a:r>
                  <a:rPr lang="es-ES"/>
                  <a:t>Why? </a:t>
                </a:r>
                <a:r>
                  <a:rPr lang="es-ES" err="1"/>
                  <a:t>Mathematically</a:t>
                </a:r>
                <a:r>
                  <a:rPr lang="es-ES"/>
                  <a:t>, the </a:t>
                </a:r>
                <a:r>
                  <a:rPr lang="es-ES" err="1"/>
                  <a:t>slope</a:t>
                </a:r>
                <a:r>
                  <a:rPr lang="es-ES"/>
                  <a:t> </a:t>
                </a:r>
                <a:r>
                  <a:rPr lang="es-ES" err="1"/>
                  <a:t>of</a:t>
                </a:r>
                <a:r>
                  <a:rPr lang="es-ES"/>
                  <a:t> </a:t>
                </a:r>
                <a:r>
                  <a:rPr lang="es-ES" err="1"/>
                  <a:t>an</a:t>
                </a:r>
                <a:r>
                  <a:rPr lang="es-ES"/>
                  <a:t> </a:t>
                </a:r>
                <a:r>
                  <a:rPr lang="es-ES" err="1"/>
                  <a:t>exponential</a:t>
                </a:r>
                <a:r>
                  <a:rPr lang="es-ES"/>
                  <a:t> </a:t>
                </a:r>
                <a:r>
                  <a:rPr lang="es-ES" err="1"/>
                  <a:t>decay</a:t>
                </a:r>
                <a:r>
                  <a:rPr lang="es-ES"/>
                  <a:t> curve </a:t>
                </a:r>
                <a:r>
                  <a:rPr lang="es-ES" err="1"/>
                  <a:t>is</a:t>
                </a:r>
                <a:r>
                  <a:rPr lang="es-ES"/>
                  <a:t> </a:t>
                </a:r>
                <a:r>
                  <a:rPr lang="es-ES" err="1"/>
                  <a:t>most</a:t>
                </a:r>
                <a:r>
                  <a:rPr lang="es-ES"/>
                  <a:t> sensitive </a:t>
                </a:r>
                <a:r>
                  <a:rPr lang="es-ES" err="1"/>
                  <a:t>to</a:t>
                </a:r>
                <a:r>
                  <a:rPr lang="es-ES"/>
                  <a:t> </a:t>
                </a:r>
                <a:r>
                  <a:rPr lang="es-ES" err="1"/>
                  <a:t>changes</a:t>
                </a:r>
                <a:r>
                  <a:rPr lang="es-ES"/>
                  <a:t> in the </a:t>
                </a:r>
                <a:r>
                  <a:rPr lang="es-ES" err="1"/>
                  <a:t>decay</a:t>
                </a:r>
                <a:r>
                  <a:rPr lang="es-ES"/>
                  <a:t> </a:t>
                </a:r>
                <a:r>
                  <a:rPr lang="es-ES" err="1"/>
                  <a:t>rate</a:t>
                </a:r>
                <a:r>
                  <a:rPr lang="es-ES"/>
                  <a:t> at </a:t>
                </a:r>
                <a:r>
                  <a:rPr lang="es-ES" err="1"/>
                  <a:t>its</a:t>
                </a:r>
                <a:r>
                  <a:rPr lang="es-ES"/>
                  <a:t> </a:t>
                </a:r>
                <a:r>
                  <a:rPr lang="es-ES" err="1"/>
                  <a:t>half-life</a:t>
                </a:r>
                <a:r>
                  <a:rPr lang="es-ES"/>
                  <a:t> </a:t>
                </a:r>
                <a:r>
                  <a:rPr lang="es-ES" err="1"/>
                  <a:t>point</a:t>
                </a:r>
                <a:r>
                  <a:rPr lang="es-ES"/>
                  <a:t>.</a:t>
                </a:r>
              </a:p>
              <a:p>
                <a:pPr marL="457200" lvl="1" indent="0">
                  <a:buNone/>
                </a:pPr>
                <a:endParaRPr lang="es-ES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A13107-1023-04D2-E19C-FEF9478D1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3190" y="1891261"/>
                <a:ext cx="9065879" cy="4866860"/>
              </a:xfrm>
              <a:blipFill>
                <a:blip r:embed="rId2"/>
                <a:stretch>
                  <a:fillRect l="-336" t="-6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09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976C8-154A-08AF-7C3E-AB239DEA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062999"/>
          </a:xfrm>
        </p:spPr>
        <p:txBody>
          <a:bodyPr/>
          <a:lstStyle/>
          <a:p>
            <a:pPr algn="ctr"/>
            <a:r>
              <a:rPr lang="en-US"/>
              <a:t>Effective knobs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4375783-5C5E-6DD0-30C7-7E7A9C704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41166" y="1515717"/>
                <a:ext cx="6793327" cy="12468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/>
              </a:p>
              <a:p>
                <a:pPr marL="0" indent="0">
                  <a:buNone/>
                </a:pPr>
                <a:endParaRPr lang="en-US" sz="280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4375783-5C5E-6DD0-30C7-7E7A9C704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1166" y="1515717"/>
                <a:ext cx="6793327" cy="124687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F27A3D24-82A0-EF13-5B0C-082C571B5D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5553" y="3109190"/>
                <a:ext cx="9166296" cy="284435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r>
                  <a:rPr lang="en-US"/>
                  <a:t>We realized that the expected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 depends not on 4 knobs as we initially supposed, but of 3: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This allowed to sweep 3 parameters instead of 4, reducing the time of the simulation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F27A3D24-82A0-EF13-5B0C-082C571B5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553" y="3109190"/>
                <a:ext cx="9166296" cy="2844350"/>
              </a:xfrm>
              <a:prstGeom prst="rect">
                <a:avLst/>
              </a:prstGeom>
              <a:blipFill>
                <a:blip r:embed="rId3"/>
                <a:stretch>
                  <a:fillRect l="-332" t="-1071" r="-8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33B6E97-80F8-FF4F-E025-35BF45FAA61A}"/>
                  </a:ext>
                </a:extLst>
              </p:cNvPr>
              <p:cNvSpPr txBox="1"/>
              <p:nvPr/>
            </p:nvSpPr>
            <p:spPr>
              <a:xfrm>
                <a:off x="3684933" y="3967643"/>
                <a:ext cx="436079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3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>
                    <a:latin typeface="+mj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>
                    <a:latin typeface="+mj-lt"/>
                  </a:rPr>
                  <a:t>, </a:t>
                </a:r>
                <a:r>
                  <a:rPr lang="el-GR" sz="3200">
                    <a:latin typeface="+mj-lt"/>
                    <a:cs typeface="Calibri" panose="020F0502020204030204" pitchFamily="34" charset="0"/>
                  </a:rPr>
                  <a:t>φ</a:t>
                </a:r>
                <a:r>
                  <a:rPr lang="es-ES" sz="3200">
                    <a:latin typeface="+mj-lt"/>
                    <a:cs typeface="Calibri" panose="020F0502020204030204" pitchFamily="34" charset="0"/>
                  </a:rPr>
                  <a:t> (a </a:t>
                </a:r>
                <a:r>
                  <a:rPr lang="es-ES" sz="3200" err="1">
                    <a:latin typeface="+mj-lt"/>
                    <a:cs typeface="Calibri" panose="020F0502020204030204" pitchFamily="34" charset="0"/>
                  </a:rPr>
                  <a:t>phase</a:t>
                </a:r>
                <a:r>
                  <a:rPr lang="es-ES" sz="320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en-US" sz="200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33B6E97-80F8-FF4F-E025-35BF45FAA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933" y="3967643"/>
                <a:ext cx="4360794" cy="492443"/>
              </a:xfrm>
              <a:prstGeom prst="rect">
                <a:avLst/>
              </a:prstGeom>
              <a:blipFill>
                <a:blip r:embed="rId4"/>
                <a:stretch>
                  <a:fillRect t="-28395" b="-4938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0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4A99A9F8-47FC-70D1-3A19-EDF6B65A756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769735" y="1520688"/>
                <a:ext cx="4208591" cy="156044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s-E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s-E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b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s-ES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4A99A9F8-47FC-70D1-3A19-EDF6B65A7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769735" y="1520688"/>
                <a:ext cx="4208591" cy="1560444"/>
              </a:xfrm>
              <a:blipFill>
                <a:blip r:embed="rId3"/>
                <a:stretch>
                  <a:fillRect l="-2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A2AEC829-95C7-1A6F-0EC3-D43CD366501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1033739" y="3650404"/>
                <a:ext cx="10291900" cy="2862469"/>
              </a:xfrm>
            </p:spPr>
            <p:txBody>
              <a:bodyPr>
                <a:normAutofit/>
              </a:bodyPr>
              <a:lstStyle/>
              <a:p>
                <a:r>
                  <a:rPr lang="es-ES" sz="2000"/>
                  <a:t>The </a:t>
                </a:r>
                <a:r>
                  <a:rPr lang="es-ES" sz="2000" err="1"/>
                  <a:t>value</a:t>
                </a:r>
                <a:r>
                  <a:rPr lang="es-ES" sz="2000"/>
                  <a:t> </a:t>
                </a:r>
                <a:r>
                  <a:rPr lang="es-ES" sz="2000" err="1"/>
                  <a:t>of</a:t>
                </a:r>
                <a:r>
                  <a:rPr lang="es-ES" sz="2000"/>
                  <a:t> the </a:t>
                </a:r>
                <a:r>
                  <a:rPr lang="es-ES" sz="2000" err="1"/>
                  <a:t>reward</a:t>
                </a:r>
                <a:r>
                  <a:rPr lang="es-ES" sz="2000"/>
                  <a:t> </a:t>
                </a:r>
                <a:r>
                  <a:rPr lang="es-ES" sz="2000" err="1"/>
                  <a:t>increases</a:t>
                </a:r>
                <a:r>
                  <a:rPr lang="es-ES" sz="2000"/>
                  <a:t> </a:t>
                </a:r>
                <a:r>
                  <a:rPr lang="es-ES" sz="2000" err="1"/>
                  <a:t>when</a:t>
                </a:r>
                <a:r>
                  <a:rPr lang="es-ES" sz="2000"/>
                  <a:t> the </a:t>
                </a:r>
                <a:r>
                  <a:rPr lang="es-ES" sz="2000" err="1"/>
                  <a:t>expected</a:t>
                </a:r>
                <a:r>
                  <a:rPr lang="es-ES" sz="2000"/>
                  <a:t> </a:t>
                </a:r>
                <a:r>
                  <a:rPr lang="es-ES" sz="2000" err="1"/>
                  <a:t>lifetime</a:t>
                </a:r>
                <a:r>
                  <a:rPr lang="es-ES" sz="2000"/>
                  <a:t> </a:t>
                </a:r>
                <a:r>
                  <a:rPr lang="es-ES" sz="2000" err="1"/>
                  <a:t>increases</a:t>
                </a:r>
                <a:r>
                  <a:rPr lang="es-ES" sz="2000"/>
                  <a:t>.</a:t>
                </a:r>
              </a:p>
              <a:p>
                <a:r>
                  <a:rPr lang="es-ES" sz="2000"/>
                  <a:t>The negative </a:t>
                </a:r>
                <a:r>
                  <a:rPr lang="es-ES" sz="2000" err="1"/>
                  <a:t>term</a:t>
                </a:r>
                <a:r>
                  <a:rPr lang="es-ES" sz="2000"/>
                  <a:t> </a:t>
                </a:r>
                <a:r>
                  <a:rPr lang="es-ES" sz="2000" err="1"/>
                  <a:t>penalizes</a:t>
                </a:r>
                <a:r>
                  <a:rPr lang="es-ES" sz="2000"/>
                  <a:t> the </a:t>
                </a:r>
                <a:r>
                  <a:rPr lang="es-ES" sz="2000" err="1"/>
                  <a:t>value</a:t>
                </a:r>
                <a:r>
                  <a:rPr lang="es-ES" sz="2000"/>
                  <a:t> </a:t>
                </a:r>
                <a:r>
                  <a:rPr lang="es-ES" sz="2000" err="1"/>
                  <a:t>when</a:t>
                </a:r>
                <a:r>
                  <a:rPr lang="es-ES" sz="2000"/>
                  <a:t> the target </a:t>
                </a:r>
                <a:r>
                  <a:rPr lang="es-ES" sz="2000" err="1"/>
                  <a:t>bias</a:t>
                </a:r>
                <a:r>
                  <a:rPr lang="es-ES" sz="2000"/>
                  <a:t> </a:t>
                </a:r>
                <a:r>
                  <a:rPr lang="es-ES" sz="2000" err="1"/>
                  <a:t>is</a:t>
                </a:r>
                <a:r>
                  <a:rPr lang="es-ES" sz="2000"/>
                  <a:t> further</a:t>
                </a:r>
              </a:p>
              <a:p>
                <a:r>
                  <a:rPr lang="es-ES" sz="200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000"/>
                  <a:t> </a:t>
                </a:r>
                <a:r>
                  <a:rPr lang="es-ES" sz="2000" err="1"/>
                  <a:t>term</a:t>
                </a:r>
                <a:r>
                  <a:rPr lang="es-ES" sz="2000"/>
                  <a:t> </a:t>
                </a:r>
                <a:r>
                  <a:rPr lang="es-ES" sz="2000" err="1"/>
                  <a:t>allows</a:t>
                </a:r>
                <a:r>
                  <a:rPr lang="es-ES" sz="2000"/>
                  <a:t> </a:t>
                </a:r>
                <a:r>
                  <a:rPr lang="es-ES" sz="2000" err="1"/>
                  <a:t>us</a:t>
                </a:r>
                <a:r>
                  <a:rPr lang="es-ES" sz="2000"/>
                  <a:t> </a:t>
                </a:r>
                <a:r>
                  <a:rPr lang="es-ES" sz="2000" err="1"/>
                  <a:t>to</a:t>
                </a:r>
                <a:r>
                  <a:rPr lang="es-ES" sz="2000"/>
                  <a:t> compare </a:t>
                </a:r>
                <a:r>
                  <a:rPr lang="es-ES" sz="2000" err="1"/>
                  <a:t>with</a:t>
                </a:r>
                <a:r>
                  <a:rPr lang="es-ES" sz="2000"/>
                  <a:t> </a:t>
                </a:r>
                <a:r>
                  <a:rPr lang="es-ES" sz="2000" err="1"/>
                  <a:t>our</a:t>
                </a:r>
                <a:r>
                  <a:rPr lang="es-ES" sz="2000"/>
                  <a:t> </a:t>
                </a:r>
                <a:r>
                  <a:rPr lang="es-ES" sz="2000" err="1"/>
                  <a:t>reference</a:t>
                </a:r>
                <a:r>
                  <a:rPr lang="es-ES" sz="2000"/>
                  <a:t> </a:t>
                </a:r>
                <a:r>
                  <a:rPr lang="es-ES" sz="2000" err="1"/>
                  <a:t>values</a:t>
                </a:r>
                <a:endParaRPr lang="es-ES" sz="2000"/>
              </a:p>
              <a:p>
                <a:r>
                  <a:rPr lang="es-ES" sz="2000" err="1"/>
                  <a:t>We</a:t>
                </a:r>
                <a:r>
                  <a:rPr lang="es-ES" sz="2000"/>
                  <a:t> </a:t>
                </a:r>
                <a:r>
                  <a:rPr lang="es-ES" sz="2000" err="1"/>
                  <a:t>used</a:t>
                </a:r>
                <a:r>
                  <a:rPr lang="es-E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20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000" i="0" dirty="0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2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i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s-ES" sz="2000"/>
              </a:p>
              <a:p>
                <a:endParaRPr lang="es-ES"/>
              </a:p>
            </p:txBody>
          </p:sp>
        </mc:Choice>
        <mc:Fallback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A2AEC829-95C7-1A6F-0EC3-D43CD3665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1033739" y="3650404"/>
                <a:ext cx="10291900" cy="2862469"/>
              </a:xfrm>
              <a:blipFill>
                <a:blip r:embed="rId4"/>
                <a:stretch>
                  <a:fillRect l="-296" t="-12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7">
            <a:extLst>
              <a:ext uri="{FF2B5EF4-FFF2-40B4-BE49-F238E27FC236}">
                <a16:creationId xmlns:a16="http://schemas.microsoft.com/office/drawing/2014/main" id="{102BB9C5-2208-FBB7-BFDA-D1454621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924" y="298661"/>
            <a:ext cx="6902659" cy="652755"/>
          </a:xfrm>
        </p:spPr>
        <p:txBody>
          <a:bodyPr/>
          <a:lstStyle/>
          <a:p>
            <a:pPr algn="ctr"/>
            <a:r>
              <a:rPr lang="es-ES"/>
              <a:t>Reward </a:t>
            </a:r>
            <a:r>
              <a:rPr lang="es-ES" err="1"/>
              <a:t>function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6E3130E-9494-A016-A122-C2490D1494FC}"/>
                  </a:ext>
                </a:extLst>
              </p:cNvPr>
              <p:cNvSpPr txBox="1"/>
              <p:nvPr/>
            </p:nvSpPr>
            <p:spPr>
              <a:xfrm>
                <a:off x="931636" y="1941371"/>
                <a:ext cx="43401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3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32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0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6E3130E-9494-A016-A122-C2490D149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36" y="1941371"/>
                <a:ext cx="434016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26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0DAB-291E-1CD7-0DC0-D7BB5BF5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lifetimes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77660-7873-D0C2-7717-7964DC384515}"/>
              </a:ext>
            </a:extLst>
          </p:cNvPr>
          <p:cNvSpPr txBox="1"/>
          <p:nvPr/>
        </p:nvSpPr>
        <p:spPr>
          <a:xfrm>
            <a:off x="139466" y="1477832"/>
            <a:ext cx="119125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Problem: </a:t>
            </a:r>
            <a:r>
              <a:rPr lang="en-US"/>
              <a:t>Measuring the lifetime requires measuring too many point along a decay curve to perform an exponential fit. This </a:t>
            </a:r>
            <a:r>
              <a:rPr lang="en-US" err="1"/>
              <a:t>is makes</a:t>
            </a:r>
            <a:r>
              <a:rPr lang="en-US"/>
              <a:t> our optimizer too slow, since it needs to evaluate hundreds of parameter sets.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Solution: </a:t>
            </a:r>
            <a:r>
              <a:rPr lang="en-US"/>
              <a:t> Instead of the </a:t>
            </a:r>
            <a:r>
              <a:rPr lang="en-US" b="1"/>
              <a:t>Exponential Fit</a:t>
            </a:r>
            <a:r>
              <a:rPr lang="en-US"/>
              <a:t>, we transition to a Single-Point Proxy Measurement. Instead of finding the exact lifetime value, we measure the strength of the signal at a specific time point</a:t>
            </a:r>
          </a:p>
        </p:txBody>
      </p:sp>
      <p:pic>
        <p:nvPicPr>
          <p:cNvPr id="3" name="Picture 2" descr="A graph of calibration and a calibration function&#10;&#10;AI-generated content may be incorrect.">
            <a:extLst>
              <a:ext uri="{FF2B5EF4-FFF2-40B4-BE49-F238E27FC236}">
                <a16:creationId xmlns:a16="http://schemas.microsoft.com/office/drawing/2014/main" id="{5EF1EADF-EB12-0053-39B1-0F0FA135D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37" y="3230498"/>
            <a:ext cx="10386471" cy="310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5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510AD-BC70-2458-3945-8F8E7A11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834399"/>
          </a:xfrm>
        </p:spPr>
        <p:txBody>
          <a:bodyPr/>
          <a:lstStyle/>
          <a:p>
            <a:pPr algn="ctr"/>
            <a:r>
              <a:rPr lang="es-ES" err="1"/>
              <a:t>Optimization</a:t>
            </a:r>
            <a:r>
              <a:rPr lang="es-ES"/>
              <a:t> </a:t>
            </a:r>
            <a:r>
              <a:rPr lang="es-ES" err="1"/>
              <a:t>Methods</a:t>
            </a:r>
            <a:r>
              <a:rPr lang="es-ES"/>
              <a:t> </a:t>
            </a:r>
            <a:r>
              <a:rPr lang="es-ES" err="1"/>
              <a:t>used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CB755-F1A4-AA27-FAAD-12F5D946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325" y="1590467"/>
            <a:ext cx="3016457" cy="576262"/>
          </a:xfrm>
        </p:spPr>
        <p:txBody>
          <a:bodyPr/>
          <a:lstStyle/>
          <a:p>
            <a:pPr algn="ctr"/>
            <a:r>
              <a:rPr lang="es-ES"/>
              <a:t>CMA-ES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CC825E-C3A7-5451-8BA1-DD5B9B2A7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265" y="2279272"/>
            <a:ext cx="3160575" cy="3741738"/>
          </a:xfrm>
        </p:spPr>
        <p:txBody>
          <a:bodyPr/>
          <a:lstStyle/>
          <a:p>
            <a:r>
              <a:rPr lang="en-US"/>
              <a:t>Evolutionary algorithm that adapts the search distribution over time</a:t>
            </a:r>
          </a:p>
          <a:p>
            <a:r>
              <a:rPr lang="en-US"/>
              <a:t>Strong global search capabilities, robust to noisy landscapes</a:t>
            </a:r>
          </a:p>
          <a:p>
            <a:r>
              <a:rPr lang="en-US"/>
              <a:t>Higher computational cost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67D40E-ADEA-3FA6-DD10-0C1F57399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89342" y="1543153"/>
            <a:ext cx="3786809" cy="576262"/>
          </a:xfrm>
        </p:spPr>
        <p:txBody>
          <a:bodyPr/>
          <a:lstStyle/>
          <a:p>
            <a:r>
              <a:rPr lang="es-ES"/>
              <a:t>BAYESIAN OPTIMIZATION</a:t>
            </a:r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C016AB9-3391-2EB1-DB2C-EECDF3AC3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29099" y="2239514"/>
            <a:ext cx="3707297" cy="3741738"/>
          </a:xfrm>
        </p:spPr>
        <p:txBody>
          <a:bodyPr/>
          <a:lstStyle/>
          <a:p>
            <a:r>
              <a:rPr lang="en-US"/>
              <a:t>Probabilistic surrogate model used to guide parameter exploration</a:t>
            </a:r>
          </a:p>
          <a:p>
            <a:r>
              <a:rPr lang="en-US"/>
              <a:t>Very sample-efficient, effective for expensive evaluations</a:t>
            </a:r>
          </a:p>
          <a:p>
            <a:r>
              <a:rPr lang="en-US"/>
              <a:t>Showed strong oscillations and unstable convergence in our experiments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2809916F-906F-9446-C35B-76756A1C57CC}"/>
              </a:ext>
            </a:extLst>
          </p:cNvPr>
          <p:cNvSpPr txBox="1">
            <a:spLocks/>
          </p:cNvSpPr>
          <p:nvPr/>
        </p:nvSpPr>
        <p:spPr>
          <a:xfrm>
            <a:off x="8097794" y="1540771"/>
            <a:ext cx="3786809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s-ES"/>
              <a:t>SA-ES</a:t>
            </a:r>
            <a:endParaRPr lang="en-US"/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9BD8B4A5-9885-BA4C-FDB2-13A47A0EC1D7}"/>
              </a:ext>
            </a:extLst>
          </p:cNvPr>
          <p:cNvSpPr txBox="1">
            <a:spLocks/>
          </p:cNvSpPr>
          <p:nvPr/>
        </p:nvSpPr>
        <p:spPr>
          <a:xfrm>
            <a:off x="8287577" y="2166729"/>
            <a:ext cx="3707297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Self-adaptive evolution strategy with dynamic mutation parameters</a:t>
            </a:r>
          </a:p>
          <a:p>
            <a:r>
              <a:rPr lang="en-US"/>
              <a:t>Flexible, computationally efficient, adapts well to changing conditions</a:t>
            </a:r>
          </a:p>
          <a:p>
            <a:r>
              <a:rPr lang="en-US"/>
              <a:t>Risk of premature convergence to a local solution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6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33664-9BAC-6EC1-AA46-3B57BA9F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640" y="309888"/>
            <a:ext cx="9188174" cy="1400530"/>
          </a:xfrm>
        </p:spPr>
        <p:txBody>
          <a:bodyPr/>
          <a:lstStyle/>
          <a:p>
            <a:pPr algn="ctr"/>
            <a:r>
              <a:rPr lang="es-ES" dirty="0" err="1"/>
              <a:t>Parameter</a:t>
            </a:r>
            <a:r>
              <a:rPr lang="es-ES" dirty="0"/>
              <a:t> </a:t>
            </a:r>
            <a:r>
              <a:rPr lang="es-ES" dirty="0" err="1"/>
              <a:t>convergence</a:t>
            </a:r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06C4AE-2AC6-5A03-4F47-92BAEFF9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55" y="1314811"/>
            <a:ext cx="8776287" cy="5234189"/>
          </a:xfrm>
          <a:prstGeom prst="rect">
            <a:avLst/>
          </a:prstGeom>
        </p:spPr>
      </p:pic>
      <p:sp>
        <p:nvSpPr>
          <p:cNvPr id="10" name="AutoShape 2">
            <a:extLst>
              <a:ext uri="{FF2B5EF4-FFF2-40B4-BE49-F238E27FC236}">
                <a16:creationId xmlns:a16="http://schemas.microsoft.com/office/drawing/2014/main" id="{B84EA7F9-561D-AED0-0124-B17E0EDED5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815509" cy="481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3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D1FC-101E-13A8-86C0-DA00E542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Decay Lifetimes Comparison</a:t>
            </a:r>
          </a:p>
        </p:txBody>
      </p:sp>
      <p:pic>
        <p:nvPicPr>
          <p:cNvPr id="10" name="Content Placeholder 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1CF2C64-8676-9F8D-EB1E-B6727D3B7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322" y="2058591"/>
            <a:ext cx="10101323" cy="366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0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FDBA0-EAF1-470F-3C35-A2E2BED1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Visualization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cats</a:t>
            </a:r>
            <a:r>
              <a:rPr lang="es-ES" dirty="0"/>
              <a:t> </a:t>
            </a:r>
            <a:r>
              <a:rPr lang="es-ES" dirty="0" err="1"/>
              <a:t>state</a:t>
            </a:r>
            <a:endParaRPr lang="es-ES" dirty="0"/>
          </a:p>
        </p:txBody>
      </p:sp>
      <p:pic>
        <p:nvPicPr>
          <p:cNvPr id="7" name="Marcador de contenido 6" descr="Gráfico&#10;&#10;El contenido generado por IA puede ser incorrecto.">
            <a:extLst>
              <a:ext uri="{FF2B5EF4-FFF2-40B4-BE49-F238E27FC236}">
                <a16:creationId xmlns:a16="http://schemas.microsoft.com/office/drawing/2014/main" id="{B60D3A92-C5F6-F1AB-DA94-7973F8F35D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00426" y="2349205"/>
            <a:ext cx="3582249" cy="358224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911C71-D68C-7AD7-8471-32341EF03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472" y="1562395"/>
            <a:ext cx="2494293" cy="576262"/>
          </a:xfrm>
        </p:spPr>
        <p:txBody>
          <a:bodyPr/>
          <a:lstStyle/>
          <a:p>
            <a:r>
              <a:rPr lang="es-ES"/>
              <a:t>Reference</a:t>
            </a:r>
          </a:p>
        </p:txBody>
      </p:sp>
      <p:pic>
        <p:nvPicPr>
          <p:cNvPr id="8" name="Marcador de contenido 7" descr="Gráfico&#10;&#10;El contenido generado por IA puede ser incorrecto.">
            <a:extLst>
              <a:ext uri="{FF2B5EF4-FFF2-40B4-BE49-F238E27FC236}">
                <a16:creationId xmlns:a16="http://schemas.microsoft.com/office/drawing/2014/main" id="{0DC2E02A-C447-9557-127B-82BA8AC437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321936" y="2343298"/>
            <a:ext cx="3570436" cy="3582250"/>
          </a:xfrm>
          <a:prstGeom prst="rect">
            <a:avLst/>
          </a:prstGeom>
        </p:spPr>
      </p:pic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58D0EE1C-5338-F4A6-A95C-C33B5A81E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97" y="2347285"/>
            <a:ext cx="3581105" cy="3581105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0EAEEC82-7C49-11D8-A676-DCDDA406867A}"/>
              </a:ext>
            </a:extLst>
          </p:cNvPr>
          <p:cNvSpPr txBox="1">
            <a:spLocks/>
          </p:cNvSpPr>
          <p:nvPr/>
        </p:nvSpPr>
        <p:spPr>
          <a:xfrm>
            <a:off x="4590058" y="1561214"/>
            <a:ext cx="249429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 err="1"/>
              <a:t>Optimal</a:t>
            </a:r>
            <a:r>
              <a:rPr lang="es-ES" dirty="0"/>
              <a:t> - CMA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BC947404-5389-140A-5F89-88E1A2EB68C2}"/>
              </a:ext>
            </a:extLst>
          </p:cNvPr>
          <p:cNvSpPr txBox="1">
            <a:spLocks/>
          </p:cNvSpPr>
          <p:nvPr/>
        </p:nvSpPr>
        <p:spPr>
          <a:xfrm>
            <a:off x="8659965" y="1561214"/>
            <a:ext cx="249429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dirty="0" err="1"/>
              <a:t>Optimal</a:t>
            </a:r>
            <a:r>
              <a:rPr lang="es-ES" dirty="0"/>
              <a:t> - BO</a:t>
            </a:r>
          </a:p>
        </p:txBody>
      </p:sp>
    </p:spTree>
    <p:extLst>
      <p:ext uri="{BB962C8B-B14F-4D97-AF65-F5344CB8AC3E}">
        <p14:creationId xmlns:p14="http://schemas.microsoft.com/office/powerpoint/2010/main" val="225554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A296-CD77-91BD-83DE-51EE7571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2D913-0DBF-E88E-97EF-292BF97C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50" y="288722"/>
            <a:ext cx="9404723" cy="1400530"/>
          </a:xfrm>
        </p:spPr>
        <p:txBody>
          <a:bodyPr/>
          <a:lstStyle/>
          <a:p>
            <a:pPr algn="ctr"/>
            <a:r>
              <a:rPr lang="es-ES"/>
              <a:t>Drift </a:t>
            </a:r>
            <a:r>
              <a:rPr lang="es-ES" err="1"/>
              <a:t>Implementation</a:t>
            </a:r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6253FE-8619-AA7D-A359-A20432978C03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285312" y="1039688"/>
                <a:ext cx="9405938" cy="4195763"/>
              </a:xfrm>
            </p:spPr>
            <p:txBody>
              <a:bodyPr/>
              <a:lstStyle/>
              <a:p>
                <a:r>
                  <a:rPr lang="en-US"/>
                  <a:t>Frequency shift of the storage resonator</a:t>
                </a:r>
              </a:p>
              <a:p>
                <a:pPr lvl="1"/>
                <a:r>
                  <a:rPr lang="en-US"/>
                  <a:t>We introduce a synthetic drift into the Hamiltonian – apply slow, sinusoidal oscillation to the storage frequency across training epochs</a:t>
                </a:r>
              </a:p>
              <a:p>
                <a:pPr lvl="1"/>
                <a:r>
                  <a:rPr lang="en-US"/>
                  <a:t>Introduce new parameter to search space: frequency compensation knob</a:t>
                </a:r>
              </a:p>
              <a:p>
                <a:pPr lvl="1"/>
                <a:r>
                  <a:rPr lang="en-US"/>
                  <a:t>Also implement Variance Bounding: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b="0"/>
                  <a:t> doesn’t go to 0, forced to keep minimum level of exploration; less chance of premature conversion</a:t>
                </a:r>
              </a:p>
              <a:p>
                <a:pPr lvl="1"/>
                <a:endParaRPr lang="en-GB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6253FE-8619-AA7D-A359-A20432978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285312" y="1039688"/>
                <a:ext cx="9405938" cy="4195763"/>
              </a:xfrm>
              <a:blipFill>
                <a:blip r:embed="rId2"/>
                <a:stretch>
                  <a:fillRect l="-324" t="-87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5C787A7-DCF4-F752-0471-BE559445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178407" y="3290253"/>
            <a:ext cx="9621982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0E602-7956-0CAC-4A75-A76D62BDD43D}"/>
              </a:ext>
            </a:extLst>
          </p:cNvPr>
          <p:cNvSpPr txBox="1"/>
          <p:nvPr/>
        </p:nvSpPr>
        <p:spPr>
          <a:xfrm>
            <a:off x="9905370" y="3263760"/>
            <a:ext cx="228663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Physically: mechanical vibrations of cryocooler, temperature cycling, main power harmonics</a:t>
            </a:r>
          </a:p>
        </p:txBody>
      </p:sp>
    </p:spTree>
    <p:extLst>
      <p:ext uri="{BB962C8B-B14F-4D97-AF65-F5344CB8AC3E}">
        <p14:creationId xmlns:p14="http://schemas.microsoft.com/office/powerpoint/2010/main" val="1582137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997974-C973-9BD8-7D21-CEC10EC92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341" y="1462985"/>
            <a:ext cx="6465882" cy="4831976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1C548F1-812B-F89C-2D2A-A82B25A58550}"/>
              </a:ext>
            </a:extLst>
          </p:cNvPr>
          <p:cNvSpPr txBox="1">
            <a:spLocks/>
          </p:cNvSpPr>
          <p:nvPr/>
        </p:nvSpPr>
        <p:spPr>
          <a:xfrm>
            <a:off x="656050" y="288722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/>
              <a:t>Drift </a:t>
            </a:r>
            <a:r>
              <a:rPr lang="es-ES" err="1"/>
              <a:t>Implementation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280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3551-A641-73E5-A3CC-CC899DFA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78675"/>
            <a:ext cx="12192000" cy="1400530"/>
          </a:xfrm>
        </p:spPr>
        <p:txBody>
          <a:bodyPr/>
          <a:lstStyle/>
          <a:p>
            <a:pPr algn="ctr"/>
            <a:r>
              <a:rPr lang="es-ES" b="1" err="1"/>
              <a:t>Thank</a:t>
            </a:r>
            <a:r>
              <a:rPr lang="es-ES" b="1"/>
              <a:t> </a:t>
            </a:r>
            <a:r>
              <a:rPr lang="es-ES" b="1" err="1"/>
              <a:t>you</a:t>
            </a:r>
            <a:r>
              <a:rPr lang="es-ES" b="1"/>
              <a:t> </a:t>
            </a:r>
            <a:r>
              <a:rPr lang="es-ES" b="1" err="1"/>
              <a:t>for</a:t>
            </a:r>
            <a:r>
              <a:rPr lang="es-ES" b="1"/>
              <a:t> </a:t>
            </a:r>
            <a:r>
              <a:rPr lang="es-ES" b="1" err="1"/>
              <a:t>your</a:t>
            </a:r>
            <a:r>
              <a:rPr lang="es-ES" b="1"/>
              <a:t> time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72040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247</Words>
  <Application>Microsoft Office PowerPoint</Application>
  <PresentationFormat>Panorámica</PresentationFormat>
  <Paragraphs>28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Ion</vt:lpstr>
      <vt:lpstr>Cat Qubit Stabilization</vt:lpstr>
      <vt:lpstr>Challenge Introduction</vt:lpstr>
      <vt:lpstr>Our Approach</vt:lpstr>
      <vt:lpstr>Effective knobs</vt:lpstr>
      <vt:lpstr>Reward function</vt:lpstr>
      <vt:lpstr>Measuring lifetimes </vt:lpstr>
      <vt:lpstr>Optimization Methods used</vt:lpstr>
      <vt:lpstr>Parameter convergence</vt:lpstr>
      <vt:lpstr>Decay Lifetimes Comparison</vt:lpstr>
      <vt:lpstr>Visualization of the cats state</vt:lpstr>
      <vt:lpstr>Drift Implementation</vt:lpstr>
      <vt:lpstr>Presentación de PowerPoint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Nosti Blanco</dc:creator>
  <cp:lastModifiedBy>Alexandru Apostol</cp:lastModifiedBy>
  <cp:revision>181</cp:revision>
  <dcterms:created xsi:type="dcterms:W3CDTF">2026-05-10T00:35:24Z</dcterms:created>
  <dcterms:modified xsi:type="dcterms:W3CDTF">2026-05-10T09:25:50Z</dcterms:modified>
</cp:coreProperties>
</file>